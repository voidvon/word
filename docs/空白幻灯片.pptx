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2.xml" ContentType="application/vnd.openxmlformats-officedocument.them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 type="screen16x9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tableStyles" Target="tableStyles.xml" /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7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3" Type="http://schemas.openxmlformats.org/officeDocument/2006/relationships/slide" Target="slides/slide3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>
                <a:latin typeface="Arial"/>
                <a:ea typeface="Microsoft YaHei"/>
              </a:rPr>
              <a:t>忽略为灰色</a:t>
            </a:r>
            <a:r>
              <a:rPr lang="en-US">
                <a:latin typeface="Arial"/>
                <a:ea typeface="Microsoft YaHei"/>
              </a:rPr>
              <a:t> </a:t>
            </a:r>
            <a:r>
              <a:rPr lang="zh-CN">
                <a:latin typeface="Arial"/>
                <a:ea typeface="Microsoft YaHei"/>
              </a:rPr>
              <a:t>橙色为应该学习</a:t>
            </a:r>
            <a:r>
              <a:rPr lang="en-US">
                <a:latin typeface="Arial"/>
                <a:ea typeface="Microsoft YaHei"/>
              </a:rPr>
              <a:t> </a:t>
            </a:r>
            <a:r>
              <a:rPr lang="zh-CN">
                <a:latin typeface="Arial"/>
                <a:ea typeface="Microsoft YaHei"/>
              </a:rPr>
              <a:t>紫色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/>
            <a:fld id="{0F7DC6A6-BF1E-4CE5-B3E6-718B8EA0B82A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/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/>
            <a:fld id="{7B03108F-6D01-401F-BB83-A4EE273EE035}" type="datetime1">
              <a:rPr lang="zh-CN"/>
              <a:t>2022/12/22</a:t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/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/>
            <a:fld id="{8D5B006A-3E28-4231-AF04-14767498E664}" type="datetime1">
              <a:rPr lang="zh-CN"/>
              <a:t>2022/12/22</a:t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/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/>
            <a:fld id="{A1F3BCCF-927F-4C14-9052-F5177C3C439D}" type="datetime1">
              <a:rPr lang="zh-CN"/>
              <a:t>2022/12/22</a:t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/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p>
            <a:pPr/>
            <a:fld id="{E19FF268-CF0C-4595-A6A8-A0B1FC2FEB42}" type="datetime1">
              <a:rPr lang="zh-CN"/>
              <a:t>2022/12/22</a:t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p>
            <a:pPr/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p>
            <a:pPr/>
            <a:fld id="{E05E0E50-3259-4429-AAEB-7BA10F2285FC}" type="datetime1">
              <a:rPr lang="zh-CN"/>
              <a:t>2022/12/22</a:t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pPr/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p>
            <a:pPr/>
            <a:fld id="{03EF5456-EA9D-47AD-816E-BBFCE6D3FB5C}" type="datetime1">
              <a:rPr lang="zh-CN"/>
              <a:t>2022/12/22</a:t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/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/>
            <a:fld id="{BDD0B665-21F2-4210-A0AB-1FF516ABB0EC}" type="datetime1">
              <a:rPr lang="zh-CN"/>
              <a:t>2022/12/22</a:t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/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/>
            <a:fld id="{4E233BD8-DB7E-4E6E-9456-6D1E77C88269}" type="datetime1">
              <a:rPr lang="zh-CN"/>
              <a:t>2022/12/22</a:t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/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/>
            <a:fld id="{9772B07E-4E44-4E95-89AF-F1EF6F4CC7EC}" type="datetime1">
              <a:rPr lang="zh-CN"/>
              <a:t>2022/12/22</a:t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/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/>
            <a:fld id="{17AA1729-FFEC-4670-BE57-9BB1B6CF1583}" type="datetime1">
              <a:rPr lang="zh-CN"/>
              <a:t>2022/12/22</a:t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/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8" Type="http://schemas.openxmlformats.org/officeDocument/2006/relationships/slideLayout" Target="../slideLayouts/slideLayout9.xml" /><Relationship Id="rId5" Type="http://schemas.openxmlformats.org/officeDocument/2006/relationships/slideLayout" Target="../slideLayouts/slideLayout6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vert="horz" lIns="91440" tIns="45720" rIns="91440" bIns="45720" anchor="ctr">
            <a:normAutofit/>
          </a:bodyPr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4ADBE2-30DF-480B-A5CC-C216012A8DE2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media/image3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 rot="0" flipH="0" flipV="0">
            <a:off x="2871636" y="311655"/>
            <a:ext cx="5359400" cy="151765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p>
            <a:pPr/>
            <a:r>
              <a:rPr lang="zh-CN"/>
              <a:t>路由</a:t>
            </a:r>
            <a:r>
              <a:rPr lang="en-US"/>
              <a:t>:index </a:t>
            </a:r>
            <a:r>
              <a:rPr lang="zh-CN"/>
              <a:t>即首页</a:t>
            </a:r>
            <a:endParaRPr/>
          </a:p>
          <a:p>
            <a:pPr/>
            <a:r>
              <a:rPr lang="zh-CN"/>
              <a:t>在搜索栏下面有三个</a:t>
            </a:r>
            <a:r>
              <a:rPr lang="en-US"/>
              <a:t>tap:</a:t>
            </a:r>
            <a:r>
              <a:rPr lang="zh-CN"/>
              <a:t>每日推荐</a:t>
            </a:r>
            <a:r>
              <a:rPr lang="en-US"/>
              <a:t>/</a:t>
            </a:r>
            <a:r>
              <a:rPr lang="zh-CN"/>
              <a:t>单词块</a:t>
            </a:r>
            <a:r>
              <a:rPr lang="en-US"/>
              <a:t>/</a:t>
            </a:r>
            <a:r>
              <a:rPr lang="zh-CN"/>
              <a:t>知识圈</a:t>
            </a:r>
            <a:endParaRPr/>
          </a:p>
          <a:p>
            <a:pPr/>
            <a:r>
              <a:rPr lang="zh-CN"/>
              <a:t>其中单词快的组件见后面的</a:t>
            </a:r>
            <a:r>
              <a:rPr lang="en-US"/>
              <a:t>ppt</a:t>
            </a:r>
            <a:endParaRPr/>
          </a:p>
          <a:p>
            <a:pPr/>
            <a:r>
              <a:rPr lang="zh-CN"/>
              <a:t>底部导航栏暂时不写</a:t>
            </a:r>
            <a:r>
              <a:rPr lang="en-US"/>
              <a:t>,</a:t>
            </a:r>
            <a:r>
              <a:rPr lang="zh-CN"/>
              <a:t>左上角</a:t>
            </a:r>
            <a:r>
              <a:rPr lang="en-US"/>
              <a:t>'</a:t>
            </a:r>
            <a:r>
              <a:rPr lang="zh-CN"/>
              <a:t>三</a:t>
            </a:r>
            <a:r>
              <a:rPr lang="en-US"/>
              <a:t>'</a:t>
            </a:r>
            <a:r>
              <a:rPr lang="zh-CN"/>
              <a:t>字按钮暂时不写交互</a:t>
            </a:r>
            <a:endParaRPr/>
          </a:p>
        </p:txBody>
      </p:sp>
      <p:sp>
        <p:nvSpPr>
          <p:cNvPr id="3" name=""/>
          <p:cNvSpPr txBox="1"/>
          <p:nvPr/>
        </p:nvSpPr>
        <p:spPr>
          <a:xfrm rot="0" flipH="0" flipV="0">
            <a:off x="2871636" y="1868874"/>
            <a:ext cx="9201150" cy="8064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/>
            <a:r>
              <a:rPr lang="zh-CN"/>
              <a:t>界面样式及交互</a:t>
            </a:r>
            <a:r>
              <a:rPr lang="en-US"/>
              <a:t>,</a:t>
            </a:r>
            <a:r>
              <a:rPr lang="zh-CN"/>
              <a:t>基本参考手机</a:t>
            </a:r>
            <a:r>
              <a:rPr lang="en-US"/>
              <a:t>APP[</a:t>
            </a:r>
            <a:r>
              <a:rPr lang="zh-CN"/>
              <a:t>欧路词典</a:t>
            </a:r>
            <a:r>
              <a:rPr lang="en-US"/>
              <a:t>],</a:t>
            </a:r>
            <a:r>
              <a:rPr lang="zh-CN"/>
              <a:t>因为暂时还没想好每日推荐的排版</a:t>
            </a:r>
            <a:r>
              <a:rPr lang="en-US"/>
              <a:t>,</a:t>
            </a:r>
            <a:r>
              <a:rPr lang="zh-CN"/>
              <a:t>左侧图片主要展示点击查询框后出现历史查询数据的样子</a:t>
            </a:r>
            <a:endParaRPr/>
          </a:p>
        </p:txBody>
      </p:sp>
      <p:sp>
        <p:nvSpPr>
          <p:cNvPr id="4" name=""/>
          <p:cNvSpPr txBox="1"/>
          <p:nvPr/>
        </p:nvSpPr>
        <p:spPr>
          <a:xfrm rot="0" flipH="0" flipV="0">
            <a:off x="2871636" y="2847549"/>
            <a:ext cx="9188450" cy="8064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/>
            <a:r>
              <a:rPr lang="zh-CN"/>
              <a:t>根据需要</a:t>
            </a:r>
            <a:r>
              <a:rPr lang="en-US"/>
              <a:t>,</a:t>
            </a:r>
            <a:r>
              <a:rPr lang="zh-CN"/>
              <a:t>本页数据需要一个</a:t>
            </a:r>
            <a:r>
              <a:rPr lang="en-US"/>
              <a:t>searchList</a:t>
            </a:r>
            <a:r>
              <a:rPr lang="zh-CN"/>
              <a:t>数组来支撑</a:t>
            </a:r>
            <a:r>
              <a:rPr lang="en-US"/>
              <a:t>,</a:t>
            </a:r>
            <a:r>
              <a:rPr lang="zh-CN"/>
              <a:t>数组需要去重合并</a:t>
            </a:r>
            <a:r>
              <a:rPr lang="en-US"/>
              <a:t>,</a:t>
            </a:r>
            <a:r>
              <a:rPr lang="zh-CN"/>
              <a:t>并统计查询次数</a:t>
            </a:r>
            <a:endParaRPr/>
          </a:p>
          <a:p>
            <a:pPr/>
            <a:r>
              <a:rPr lang="zh-CN"/>
              <a:t>数组里只需要单词即可</a:t>
            </a:r>
            <a:r>
              <a:rPr lang="en-US"/>
              <a:t>,</a:t>
            </a:r>
            <a:r>
              <a:rPr lang="zh-CN"/>
              <a:t>无需其他数据</a:t>
            </a:r>
            <a:r>
              <a:rPr lang="en-US"/>
              <a:t>.</a:t>
            </a:r>
            <a:r>
              <a:rPr lang="zh-CN"/>
              <a:t>关于词性</a:t>
            </a:r>
            <a:r>
              <a:rPr lang="en-US"/>
              <a:t>,</a:t>
            </a:r>
            <a:r>
              <a:rPr lang="zh-CN"/>
              <a:t>词义等</a:t>
            </a:r>
            <a:r>
              <a:rPr lang="en-US"/>
              <a:t>,</a:t>
            </a:r>
            <a:r>
              <a:rPr lang="zh-CN"/>
              <a:t>都是去找</a:t>
            </a:r>
            <a:r>
              <a:rPr lang="en-US"/>
              <a:t>wordJson</a:t>
            </a:r>
            <a:r>
              <a:rPr lang="zh-CN"/>
              <a:t>里查询</a:t>
            </a:r>
            <a:endParaRPr/>
          </a:p>
        </p:txBody>
      </p:sp>
      <p:pic>
        <p:nvPicPr>
          <p:cNvPr id="5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311655"/>
            <a:ext cx="2760532" cy="5973487"/>
          </a:xfrm>
          <a:prstGeom prst="rect"/>
        </p:spPr>
      </p:pic>
      <p:sp>
        <p:nvSpPr>
          <p:cNvPr id="6" name=""/>
          <p:cNvSpPr txBox="1"/>
          <p:nvPr/>
        </p:nvSpPr>
        <p:spPr>
          <a:xfrm rot="0" flipH="0" flipV="0">
            <a:off x="1119916" y="1015719"/>
            <a:ext cx="520700" cy="273050"/>
          </a:xfrm>
          <a:prstGeom prst="rect">
            <a:avLst/>
          </a:prstGeom>
          <a:solidFill>
            <a:schemeClr val="lt1">
              <a:alpha val="100000"/>
            </a:schemeClr>
          </a:solidFill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zh-CN" sz="900"/>
              <a:t>单词块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244021" y="1015719"/>
            <a:ext cx="641350" cy="273050"/>
          </a:xfrm>
          <a:prstGeom prst="rect">
            <a:avLst/>
          </a:prstGeom>
          <a:solidFill>
            <a:schemeClr val="lt1">
              <a:alpha val="100000"/>
            </a:schemeClr>
          </a:solidFill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zh-CN" sz="900"/>
              <a:t>每日推荐</a:t>
            </a:r>
            <a:endParaRPr/>
          </a:p>
        </p:txBody>
      </p:sp>
      <p:sp>
        <p:nvSpPr>
          <p:cNvPr id="8" name=""/>
          <p:cNvSpPr txBox="1"/>
          <p:nvPr/>
        </p:nvSpPr>
        <p:spPr>
          <a:xfrm rot="0" flipH="0" flipV="0">
            <a:off x="2871636" y="3826224"/>
            <a:ext cx="7797800" cy="14795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 lvl="0"/>
            <a:r>
              <a:rPr lang="zh-CN" sz="1400"/>
              <a:t>需要的数据</a:t>
            </a:r>
            <a:r>
              <a:rPr lang="en-US" sz="1400"/>
              <a:t>:</a:t>
            </a:r>
            <a:endParaRPr/>
          </a:p>
          <a:p>
            <a:pPr lvl="0"/>
            <a:r>
              <a:rPr lang="zh-CN" sz="1400"/>
              <a:t>本地创建并维持</a:t>
            </a:r>
            <a:endParaRPr/>
          </a:p>
          <a:p>
            <a:pPr lvl="0"/>
            <a:r>
              <a:rPr lang="en-US" sz="1400"/>
              <a:t>searchList:</a:t>
            </a:r>
            <a:r>
              <a:rPr lang="zh-CN" sz="1400"/>
              <a:t>查询历史表</a:t>
            </a:r>
            <a:endParaRPr sz="1800">
              <a:solidFill>
                <a:schemeClr val="tx1">
                  <a:alpha val="100000"/>
                </a:schemeClr>
              </a:solidFill>
              <a:latin typeface="Arial"/>
              <a:ea typeface="Microsoft YaHei"/>
            </a:endParaRPr>
          </a:p>
          <a:p>
            <a:pPr lvl="0"/>
            <a:r>
              <a:rPr lang="en-US" sz="1400"/>
              <a:t>[word0,word1](</a:t>
            </a:r>
            <a:r>
              <a:rPr lang="zh-CN" sz="1400"/>
              <a:t>按时间从新到旧</a:t>
            </a:r>
            <a:r>
              <a:rPr lang="en-US" sz="1400"/>
              <a:t>,</a:t>
            </a:r>
            <a:r>
              <a:rPr lang="zh-CN" sz="1400"/>
              <a:t>并去重</a:t>
            </a:r>
            <a:r>
              <a:rPr lang="en-US" sz="1400"/>
              <a:t>) </a:t>
            </a:r>
            <a:endParaRPr/>
          </a:p>
          <a:p>
            <a:pPr lvl="0"/>
            <a:r>
              <a:rPr lang="zh-CN" sz="1400"/>
              <a:t>之所以查询次数不存在这里</a:t>
            </a:r>
            <a:r>
              <a:rPr lang="en-US" sz="1400"/>
              <a:t>,</a:t>
            </a:r>
            <a:r>
              <a:rPr lang="zh-CN" sz="1400"/>
              <a:t>是避免去重逻辑复杂</a:t>
            </a:r>
            <a:r>
              <a:rPr lang="en-US" sz="1400"/>
              <a:t>,</a:t>
            </a:r>
            <a:r>
              <a:rPr lang="zh-CN" sz="1400"/>
              <a:t>所有的数据到</a:t>
            </a:r>
            <a:r>
              <a:rPr lang="en-US" sz="1400"/>
              <a:t>wordJsonU</a:t>
            </a:r>
            <a:r>
              <a:rPr lang="zh-CN" sz="1400"/>
              <a:t>和</a:t>
            </a:r>
            <a:r>
              <a:rPr lang="en-US" sz="1400"/>
              <a:t>wordJson</a:t>
            </a:r>
            <a:r>
              <a:rPr lang="zh-CN" sz="1400"/>
              <a:t>里获取即可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3169293" cy="6858000"/>
          </a:xfrm>
          <a:prstGeom prst="rect"/>
        </p:spPr>
      </p:pic>
      <p:sp>
        <p:nvSpPr>
          <p:cNvPr id="11" name=""/>
          <p:cNvSpPr txBox="1"/>
          <p:nvPr/>
        </p:nvSpPr>
        <p:spPr>
          <a:xfrm rot="0" flipH="0" flipV="0">
            <a:off x="3416300" y="223732"/>
            <a:ext cx="6381750" cy="116205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p>
            <a:pPr/>
            <a:r>
              <a:rPr lang="zh-CN"/>
              <a:t>路由</a:t>
            </a:r>
            <a:r>
              <a:rPr lang="en-US"/>
              <a:t>: /?wd=evidence&amp;l=en</a:t>
            </a:r>
            <a:endParaRPr/>
          </a:p>
          <a:p>
            <a:pPr/>
            <a:r>
              <a:rPr lang="zh-CN"/>
              <a:t>界面头部两行参考欧陆词典</a:t>
            </a:r>
            <a:r>
              <a:rPr lang="en-US"/>
              <a:t> </a:t>
            </a:r>
            <a:r>
              <a:rPr lang="zh-CN"/>
              <a:t>即</a:t>
            </a:r>
            <a:r>
              <a:rPr lang="en-US"/>
              <a:t>,</a:t>
            </a:r>
            <a:r>
              <a:rPr lang="zh-CN"/>
              <a:t>单词和读音</a:t>
            </a:r>
            <a:r>
              <a:rPr lang="en-US"/>
              <a:t>, </a:t>
            </a:r>
            <a:r>
              <a:rPr lang="zh-CN"/>
              <a:t>不需要全球和跟读</a:t>
            </a:r>
            <a:endParaRPr/>
          </a:p>
          <a:p>
            <a:pPr/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198487" y="242332"/>
            <a:ext cx="2583784" cy="6373335"/>
          </a:xfrm>
          <a:prstGeom prst="rect"/>
        </p:spPr>
      </p:pic>
      <p:sp>
        <p:nvSpPr>
          <p:cNvPr id="14" name=""/>
          <p:cNvSpPr txBox="1"/>
          <p:nvPr/>
        </p:nvSpPr>
        <p:spPr>
          <a:xfrm rot="0" flipH="0" flipV="0">
            <a:off x="2871636" y="311655"/>
            <a:ext cx="3702050" cy="45085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p>
            <a:pPr/>
            <a:r>
              <a:rPr lang="zh-CN"/>
              <a:t>路由</a:t>
            </a:r>
            <a:r>
              <a:rPr lang="en-US"/>
              <a:t>:</a:t>
            </a:r>
            <a:r>
              <a:rPr lang="en-US"/>
              <a:t>wdBoo</a:t>
            </a:r>
            <a:r>
              <a:rPr lang="en-US"/>
              <a:t>k  </a:t>
            </a:r>
            <a:r>
              <a:rPr lang="zh-CN"/>
              <a:t>首页点击单词块到达</a:t>
            </a:r>
            <a:endParaRPr/>
          </a:p>
        </p:txBody>
      </p:sp>
      <p:sp>
        <p:nvSpPr>
          <p:cNvPr id="15" name=""/>
          <p:cNvSpPr txBox="1"/>
          <p:nvPr/>
        </p:nvSpPr>
        <p:spPr>
          <a:xfrm rot="0" flipH="0" flipV="0">
            <a:off x="2871636" y="1190344"/>
            <a:ext cx="9199172" cy="2946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/>
            <a:r>
              <a:rPr lang="zh-CN"/>
              <a:t>界面样式及交互</a:t>
            </a:r>
            <a:r>
              <a:rPr lang="en-US"/>
              <a:t>,</a:t>
            </a:r>
            <a:r>
              <a:rPr lang="zh-CN"/>
              <a:t>基本参考手机</a:t>
            </a:r>
            <a:r>
              <a:rPr lang="en-US"/>
              <a:t>APP[</a:t>
            </a:r>
            <a:r>
              <a:rPr lang="zh-CN"/>
              <a:t>单词块</a:t>
            </a:r>
            <a:r>
              <a:rPr lang="en-US"/>
              <a:t>]</a:t>
            </a:r>
            <a:r>
              <a:rPr lang="zh-CN"/>
              <a:t>的首页</a:t>
            </a:r>
            <a:endParaRPr/>
          </a:p>
          <a:p>
            <a:pPr/>
            <a:r>
              <a:rPr lang="zh-CN"/>
              <a:t>顶部的黑色块目前不写</a:t>
            </a:r>
            <a:r>
              <a:rPr lang="en-US"/>
              <a:t>.</a:t>
            </a:r>
            <a:r>
              <a:rPr lang="zh-CN"/>
              <a:t>其他的</a:t>
            </a:r>
            <a:r>
              <a:rPr lang="en-US"/>
              <a:t>copy</a:t>
            </a:r>
            <a:r>
              <a:rPr lang="zh-CN"/>
              <a:t>单词块</a:t>
            </a:r>
            <a:endParaRPr/>
          </a:p>
          <a:p>
            <a:pPr/>
            <a:r>
              <a:rPr lang="zh-CN"/>
              <a:t>直接从</a:t>
            </a:r>
            <a:r>
              <a:rPr lang="en-US"/>
              <a:t>AI</a:t>
            </a:r>
            <a:r>
              <a:rPr lang="zh-CN"/>
              <a:t>单词本开始</a:t>
            </a:r>
            <a:r>
              <a:rPr lang="en-US"/>
              <a:t>:</a:t>
            </a:r>
            <a:r>
              <a:rPr lang="zh-CN"/>
              <a:t>这部分是相当于所有导入单词</a:t>
            </a:r>
            <a:r>
              <a:rPr lang="en-US"/>
              <a:t>(</a:t>
            </a:r>
            <a:r>
              <a:rPr lang="zh-CN"/>
              <a:t>也就是我的单词本里的词</a:t>
            </a:r>
            <a:r>
              <a:rPr lang="en-US"/>
              <a:t>)</a:t>
            </a:r>
            <a:r>
              <a:rPr lang="zh-CN"/>
              <a:t>的整体概览</a:t>
            </a:r>
            <a:r>
              <a:rPr lang="en-US"/>
              <a:t>.</a:t>
            </a:r>
            <a:r>
              <a:rPr lang="zh-CN"/>
              <a:t>罗列了八种类型的词</a:t>
            </a:r>
            <a:r>
              <a:rPr lang="en-US"/>
              <a:t>,</a:t>
            </a:r>
            <a:r>
              <a:rPr lang="zh-CN"/>
              <a:t>其中单词块原有的</a:t>
            </a:r>
            <a:r>
              <a:rPr lang="en-US"/>
              <a:t>6</a:t>
            </a:r>
            <a:r>
              <a:rPr lang="zh-CN"/>
              <a:t>种保留</a:t>
            </a:r>
            <a:r>
              <a:rPr lang="en-US"/>
              <a:t>,</a:t>
            </a:r>
            <a:r>
              <a:rPr lang="zh-CN"/>
              <a:t>另外未来</a:t>
            </a:r>
            <a:r>
              <a:rPr lang="en-US"/>
              <a:t>(</a:t>
            </a:r>
            <a:r>
              <a:rPr lang="zh-CN"/>
              <a:t>所以当下可以不必写</a:t>
            </a:r>
            <a:r>
              <a:rPr lang="en-US"/>
              <a:t>)</a:t>
            </a:r>
            <a:r>
              <a:rPr lang="zh-CN"/>
              <a:t>会加两种</a:t>
            </a:r>
            <a:r>
              <a:rPr lang="en-US"/>
              <a:t>:[</a:t>
            </a:r>
            <a:r>
              <a:rPr lang="zh-CN"/>
              <a:t>常查的单词</a:t>
            </a:r>
            <a:r>
              <a:rPr lang="en-US"/>
              <a:t>]</a:t>
            </a:r>
            <a:r>
              <a:rPr lang="zh-CN"/>
              <a:t>和</a:t>
            </a:r>
            <a:r>
              <a:rPr lang="en-US"/>
              <a:t>[</a:t>
            </a:r>
            <a:r>
              <a:rPr lang="zh-CN"/>
              <a:t>忽略的单词</a:t>
            </a:r>
            <a:r>
              <a:rPr lang="en-US"/>
              <a:t>]  </a:t>
            </a:r>
            <a:r>
              <a:rPr lang="zh-CN"/>
              <a:t>常查的词来自于用户查单词的历史记录</a:t>
            </a:r>
            <a:r>
              <a:rPr lang="en-US"/>
              <a:t>,</a:t>
            </a:r>
            <a:r>
              <a:rPr lang="zh-CN"/>
              <a:t>例如</a:t>
            </a:r>
            <a:r>
              <a:rPr lang="en-US"/>
              <a:t>7</a:t>
            </a:r>
            <a:r>
              <a:rPr lang="zh-CN"/>
              <a:t>天内查询超过</a:t>
            </a:r>
            <a:r>
              <a:rPr lang="en-US"/>
              <a:t>3</a:t>
            </a:r>
            <a:r>
              <a:rPr lang="zh-CN"/>
              <a:t>词的词就会出现在这里面</a:t>
            </a:r>
            <a:r>
              <a:rPr lang="en-US"/>
              <a:t>.</a:t>
            </a:r>
            <a:r>
              <a:rPr lang="zh-CN"/>
              <a:t>忽略的词与砍掉的词很类似</a:t>
            </a:r>
            <a:r>
              <a:rPr lang="en-US"/>
              <a:t>,</a:t>
            </a:r>
            <a:r>
              <a:rPr lang="zh-CN"/>
              <a:t>就是在背单词过程中遇到完全会的单词可以砍掉</a:t>
            </a:r>
            <a:r>
              <a:rPr lang="en-US"/>
              <a:t>,</a:t>
            </a:r>
            <a:r>
              <a:rPr lang="zh-CN"/>
              <a:t>但是如果遇到的是那种觉得很难背</a:t>
            </a:r>
            <a:r>
              <a:rPr lang="en-US"/>
              <a:t>,</a:t>
            </a:r>
            <a:r>
              <a:rPr lang="zh-CN"/>
              <a:t>而且自己判断了暂时用不着的单词</a:t>
            </a:r>
            <a:r>
              <a:rPr lang="en-US"/>
              <a:t>,</a:t>
            </a:r>
            <a:r>
              <a:rPr lang="zh-CN"/>
              <a:t>也可以点击一个按钮进行忽略掉</a:t>
            </a:r>
            <a:r>
              <a:rPr lang="en-US"/>
              <a:t>,</a:t>
            </a:r>
            <a:r>
              <a:rPr lang="zh-CN"/>
              <a:t>那么这个单词就不会进入后续背诵的流程中了</a:t>
            </a:r>
            <a:endParaRPr/>
          </a:p>
        </p:txBody>
      </p:sp>
      <p:sp>
        <p:nvSpPr>
          <p:cNvPr id="16" name=""/>
          <p:cNvSpPr/>
          <p:nvPr/>
        </p:nvSpPr>
        <p:spPr>
          <a:xfrm rot="0">
            <a:off x="763346" y="714880"/>
            <a:ext cx="1478226" cy="1369176"/>
          </a:xfrm>
          <a:prstGeom prst="noSmoking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  <p:sp>
        <p:nvSpPr>
          <p:cNvPr id="17" name=""/>
          <p:cNvSpPr txBox="1"/>
          <p:nvPr/>
        </p:nvSpPr>
        <p:spPr>
          <a:xfrm rot="0" flipH="0" flipV="0">
            <a:off x="2883753" y="4204463"/>
            <a:ext cx="9188450" cy="18732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/>
            <a:r>
              <a:rPr lang="zh-CN"/>
              <a:t>下面的我的单词本也是复刻单词块的逻辑</a:t>
            </a:r>
            <a:r>
              <a:rPr lang="en-US"/>
              <a:t>.</a:t>
            </a:r>
            <a:r>
              <a:rPr lang="zh-CN"/>
              <a:t>包括单词本的增删改查</a:t>
            </a:r>
            <a:endParaRPr/>
          </a:p>
          <a:p>
            <a:pPr/>
            <a:r>
              <a:rPr lang="zh-CN"/>
              <a:t>会增加的功能</a:t>
            </a:r>
            <a:r>
              <a:rPr lang="en-US"/>
              <a:t>(</a:t>
            </a:r>
            <a:r>
              <a:rPr lang="zh-CN"/>
              <a:t>也是暂时可不写</a:t>
            </a:r>
            <a:r>
              <a:rPr lang="en-US"/>
              <a:t>):</a:t>
            </a:r>
            <a:r>
              <a:rPr lang="zh-CN"/>
              <a:t>新增</a:t>
            </a:r>
            <a:r>
              <a:rPr lang="en-US"/>
              <a:t>,</a:t>
            </a:r>
            <a:r>
              <a:rPr lang="zh-CN"/>
              <a:t>①</a:t>
            </a:r>
            <a:r>
              <a:rPr lang="zh-CN"/>
              <a:t>从照片</a:t>
            </a:r>
            <a:r>
              <a:rPr lang="en-US"/>
              <a:t>/</a:t>
            </a:r>
            <a:r>
              <a:rPr lang="zh-CN"/>
              <a:t>文件中识别导入</a:t>
            </a:r>
            <a:r>
              <a:rPr lang="en-US"/>
              <a:t>(</a:t>
            </a:r>
            <a:r>
              <a:rPr lang="zh-CN"/>
              <a:t>这样用户可以随手拍菜单</a:t>
            </a:r>
            <a:r>
              <a:rPr lang="en-US"/>
              <a:t>,</a:t>
            </a:r>
            <a:r>
              <a:rPr lang="zh-CN"/>
              <a:t>广告牌</a:t>
            </a:r>
            <a:r>
              <a:rPr lang="en-US"/>
              <a:t>,</a:t>
            </a:r>
            <a:r>
              <a:rPr lang="zh-CN"/>
              <a:t>课本上的单词表</a:t>
            </a:r>
            <a:r>
              <a:rPr lang="en-US"/>
              <a:t>)(</a:t>
            </a:r>
            <a:r>
              <a:rPr lang="zh-CN"/>
              <a:t>用户也可以是导入一本书</a:t>
            </a:r>
            <a:r>
              <a:rPr lang="en-US"/>
              <a:t>,</a:t>
            </a:r>
            <a:r>
              <a:rPr lang="zh-CN"/>
              <a:t>或者歌词字幕等</a:t>
            </a:r>
            <a:r>
              <a:rPr lang="en-US"/>
              <a:t>)    </a:t>
            </a:r>
            <a:r>
              <a:rPr lang="zh-CN"/>
              <a:t>②单词册功能</a:t>
            </a:r>
            <a:r>
              <a:rPr lang="en-US"/>
              <a:t>,</a:t>
            </a:r>
            <a:r>
              <a:rPr lang="zh-CN"/>
              <a:t>也就是一个系列单词本的集合</a:t>
            </a:r>
            <a:r>
              <a:rPr lang="en-US"/>
              <a:t>.</a:t>
            </a:r>
            <a:r>
              <a:rPr lang="zh-CN"/>
              <a:t>例如我想看一部电视剧</a:t>
            </a:r>
            <a:r>
              <a:rPr lang="en-US"/>
              <a:t>,</a:t>
            </a:r>
            <a:r>
              <a:rPr lang="zh-CN"/>
              <a:t>我就可以是每一集都是一个单词本</a:t>
            </a:r>
            <a:r>
              <a:rPr lang="en-US"/>
              <a:t>,</a:t>
            </a:r>
            <a:r>
              <a:rPr lang="zh-CN"/>
              <a:t>但整体又是都包在单词册的里面</a:t>
            </a:r>
            <a:r>
              <a:rPr lang="en-US"/>
              <a:t>.</a:t>
            </a:r>
            <a:r>
              <a:rPr lang="zh-CN"/>
              <a:t>英语课本的每个单元也可以拆分</a:t>
            </a:r>
            <a:r>
              <a:rPr lang="en-US"/>
              <a:t>,</a:t>
            </a:r>
            <a:r>
              <a:rPr lang="zh-CN"/>
              <a:t>等等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 rot="0" flipH="0" flipV="0">
            <a:off x="350467" y="406223"/>
            <a:ext cx="3606313" cy="591820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zh-CN" sz="1400"/>
              <a:t>单词块的数据结构</a:t>
            </a:r>
            <a:r>
              <a:rPr lang="en-US" sz="1400"/>
              <a:t>:</a:t>
            </a:r>
            <a:endParaRPr/>
          </a:p>
          <a:p>
            <a:pPr/>
            <a:r>
              <a:rPr lang="zh-CN" sz="1400"/>
              <a:t>先说下方的自建单词库</a:t>
            </a:r>
            <a:r>
              <a:rPr lang="en-US" sz="1400"/>
              <a:t>:</a:t>
            </a:r>
            <a:endParaRPr/>
          </a:p>
          <a:p>
            <a:pPr/>
            <a:r>
              <a:rPr lang="en-US" sz="1400"/>
              <a:t>wdBookList:</a:t>
            </a:r>
            <a:endParaRPr/>
          </a:p>
          <a:p>
            <a:pPr/>
            <a:r>
              <a:rPr lang="en-US" sz="1400"/>
              <a:t>[id0,id1,id2</a:t>
            </a:r>
            <a:r>
              <a:rPr lang="en-US" sz="1400"/>
              <a:t>]</a:t>
            </a:r>
            <a:endParaRPr/>
          </a:p>
          <a:p>
            <a:pPr/>
            <a:r>
              <a:rPr lang="zh-CN" sz="1400"/>
              <a:t>使用数字从</a:t>
            </a:r>
            <a:r>
              <a:rPr lang="en-US" sz="1400"/>
              <a:t>0</a:t>
            </a:r>
            <a:r>
              <a:rPr lang="zh-CN" sz="1400"/>
              <a:t>自增即可</a:t>
            </a:r>
            <a:r>
              <a:rPr lang="en-US" sz="1400"/>
              <a:t>,</a:t>
            </a:r>
            <a:r>
              <a:rPr lang="zh-CN" sz="1400"/>
              <a:t>主要用作排序展示</a:t>
            </a:r>
            <a:r>
              <a:rPr lang="en-US" sz="1400"/>
              <a:t>,</a:t>
            </a:r>
            <a:r>
              <a:rPr lang="zh-CN" sz="1400"/>
              <a:t>且一般这个数组长度不会超过</a:t>
            </a:r>
            <a:r>
              <a:rPr lang="en-US" sz="1400"/>
              <a:t>20</a:t>
            </a:r>
            <a:r>
              <a:rPr lang="zh-CN" sz="1400"/>
              <a:t>更不会超过</a:t>
            </a:r>
            <a:r>
              <a:rPr lang="en-US" sz="1400"/>
              <a:t>100</a:t>
            </a:r>
            <a:endParaRPr/>
          </a:p>
          <a:p>
            <a:pPr/>
            <a:endParaRPr lang="en-US" sz="1400"/>
          </a:p>
          <a:p>
            <a:pPr/>
            <a:r>
              <a:rPr lang="zh-CN" sz="1400"/>
              <a:t>然后需要一个数据字典来存储详细信息</a:t>
            </a:r>
            <a:endParaRPr/>
          </a:p>
          <a:p>
            <a:pPr/>
            <a:r>
              <a:rPr lang="en-US" sz="1400"/>
              <a:t>wdBookJson</a:t>
            </a:r>
            <a:endParaRPr/>
          </a:p>
          <a:p>
            <a:pPr/>
            <a:r>
              <a:rPr lang="en-US" sz="1400"/>
              <a:t>[{</a:t>
            </a:r>
            <a:endParaRPr/>
          </a:p>
          <a:p>
            <a:pPr/>
            <a:r>
              <a:rPr lang="en-US" sz="1400"/>
              <a:t>  s:b,//</a:t>
            </a:r>
            <a:r>
              <a:rPr lang="zh-CN" sz="1400"/>
              <a:t>表示是</a:t>
            </a:r>
            <a:r>
              <a:rPr lang="en-US" sz="1400"/>
              <a:t>book,</a:t>
            </a:r>
            <a:endParaRPr/>
          </a:p>
          <a:p>
            <a:pPr/>
            <a:r>
              <a:rPr lang="en-US" sz="1400"/>
              <a:t>  n:wdbook</a:t>
            </a:r>
            <a:r>
              <a:rPr lang="zh-CN" sz="1400"/>
              <a:t>名称</a:t>
            </a:r>
            <a:r>
              <a:rPr lang="en-US" sz="1400"/>
              <a:t>,</a:t>
            </a:r>
            <a:endParaRPr/>
          </a:p>
          <a:p>
            <a:pPr/>
            <a:r>
              <a:rPr lang="en-US" sz="1400"/>
              <a:t>  r:[50,13] //</a:t>
            </a:r>
            <a:r>
              <a:rPr lang="zh-CN" sz="1400"/>
              <a:t>记录总单词数</a:t>
            </a:r>
            <a:r>
              <a:rPr lang="en-US" sz="1400"/>
              <a:t>,</a:t>
            </a:r>
            <a:r>
              <a:rPr lang="zh-CN" sz="1400"/>
              <a:t>和已掌握的单词数</a:t>
            </a:r>
            <a:r>
              <a:rPr lang="en-US" sz="1400"/>
              <a:t>.</a:t>
            </a:r>
            <a:r>
              <a:rPr lang="zh-CN" sz="1400"/>
              <a:t>它们的比值就影响了在界面里展示的颜色</a:t>
            </a:r>
            <a:endParaRPr/>
          </a:p>
          <a:p>
            <a:pPr/>
            <a:r>
              <a:rPr lang="en-US" sz="1400"/>
              <a:t>},{</a:t>
            </a:r>
            <a:endParaRPr/>
          </a:p>
          <a:p>
            <a:pPr/>
            <a:r>
              <a:rPr lang="en-US" sz="1400"/>
              <a:t>  s:l,//</a:t>
            </a:r>
            <a:r>
              <a:rPr lang="zh-CN" sz="1400"/>
              <a:t>表示还是</a:t>
            </a:r>
            <a:r>
              <a:rPr lang="en-US" sz="1400"/>
              <a:t>list,</a:t>
            </a:r>
            <a:r>
              <a:rPr lang="zh-CN" sz="1400"/>
              <a:t>内部有多个</a:t>
            </a:r>
            <a:r>
              <a:rPr lang="en-US" sz="1400"/>
              <a:t>book</a:t>
            </a:r>
            <a:endParaRPr/>
          </a:p>
          <a:p>
            <a:pPr/>
            <a:r>
              <a:rPr lang="en-US" sz="1400"/>
              <a:t>  n:wdBookList</a:t>
            </a:r>
            <a:r>
              <a:rPr lang="zh-CN" sz="1400"/>
              <a:t>的名称</a:t>
            </a:r>
            <a:endParaRPr/>
          </a:p>
          <a:p>
            <a:pPr/>
            <a:r>
              <a:rPr lang="en-US" sz="1400"/>
              <a:t>  l:[id0,id1,id2],//</a:t>
            </a:r>
            <a:r>
              <a:rPr lang="zh-CN" sz="1400"/>
              <a:t>表示这个</a:t>
            </a:r>
            <a:r>
              <a:rPr lang="en-US" sz="1400"/>
              <a:t>bookList</a:t>
            </a:r>
            <a:r>
              <a:rPr lang="zh-CN" sz="1400"/>
              <a:t>里包含的</a:t>
            </a:r>
            <a:r>
              <a:rPr lang="en-US" sz="1400"/>
              <a:t>book</a:t>
            </a:r>
            <a:endParaRPr/>
          </a:p>
          <a:p>
            <a:pPr/>
            <a:r>
              <a:rPr lang="en-US" sz="1400"/>
              <a:t>},]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4329063" y="406223"/>
            <a:ext cx="3771900" cy="222885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zh-CN"/>
              <a:t>遗忘中的单词</a:t>
            </a:r>
            <a:r>
              <a:rPr lang="en-US"/>
              <a:t>,</a:t>
            </a:r>
            <a:r>
              <a:rPr lang="zh-CN"/>
              <a:t>我们改为待复习单词</a:t>
            </a:r>
            <a:endParaRPr/>
          </a:p>
          <a:p>
            <a:pPr/>
            <a:r>
              <a:rPr lang="en-US"/>
              <a:t>studyList:</a:t>
            </a:r>
            <a:endParaRPr/>
          </a:p>
          <a:p>
            <a:pPr/>
            <a:r>
              <a:rPr lang="en-US"/>
              <a:t>[</a:t>
            </a:r>
            <a:r>
              <a:rPr lang="en-US"/>
              <a:t>wd1,wd2,wd3]</a:t>
            </a:r>
            <a:endParaRPr/>
          </a:p>
          <a:p>
            <a:pPr/>
            <a:r>
              <a:rPr lang="zh-CN"/>
              <a:t>然后同时必须考虑另一个工具数据</a:t>
            </a:r>
            <a:r>
              <a:rPr lang="en-US"/>
              <a:t>:</a:t>
            </a:r>
            <a:endParaRPr/>
          </a:p>
          <a:p>
            <a:pPr/>
            <a:r>
              <a:rPr lang="en-US"/>
              <a:t>upDateList:</a:t>
            </a:r>
            <a:r>
              <a:rPr lang="zh-CN"/>
              <a:t>即变更数据集</a:t>
            </a:r>
            <a:endParaRPr/>
          </a:p>
          <a:p>
            <a:pPr/>
            <a:r>
              <a:rPr lang="en-US"/>
              <a:t>[]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 txBox="1"/>
          <p:nvPr/>
        </p:nvSpPr>
        <p:spPr>
          <a:xfrm rot="0" flipH="0" flipV="0">
            <a:off x="2871636" y="311655"/>
            <a:ext cx="1517650" cy="80645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p>
            <a:pPr/>
            <a:r>
              <a:rPr lang="zh-CN"/>
              <a:t>路由</a:t>
            </a:r>
            <a:r>
              <a:rPr lang="en-US"/>
              <a:t>:wdBook</a:t>
            </a:r>
            <a:endParaRPr/>
          </a:p>
          <a:p>
            <a:pPr/>
            <a:endParaRPr lang="zh-CN"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2871636" y="1190344"/>
            <a:ext cx="9201150" cy="8064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/>
            <a:r>
              <a:rPr lang="zh-CN"/>
              <a:t>界面样式及交互</a:t>
            </a:r>
            <a:r>
              <a:rPr lang="en-US"/>
              <a:t>,</a:t>
            </a:r>
            <a:r>
              <a:rPr lang="zh-CN"/>
              <a:t>基本参考手机</a:t>
            </a:r>
            <a:r>
              <a:rPr lang="en-US"/>
              <a:t>APP[</a:t>
            </a:r>
            <a:r>
              <a:rPr lang="zh-CN"/>
              <a:t>单词块</a:t>
            </a:r>
            <a:r>
              <a:rPr lang="en-US"/>
              <a:t>]</a:t>
            </a:r>
            <a:endParaRPr/>
          </a:p>
          <a:p>
            <a:pPr/>
            <a:r>
              <a:rPr lang="zh-CN"/>
              <a:t>但是排序方面要预留两种</a:t>
            </a:r>
            <a:r>
              <a:rPr lang="en-US"/>
              <a:t>:</a:t>
            </a:r>
            <a:r>
              <a:rPr lang="zh-CN"/>
              <a:t>采用按添加顺序排列</a:t>
            </a:r>
            <a:r>
              <a:rPr lang="en-US"/>
              <a:t>,</a:t>
            </a:r>
            <a:r>
              <a:rPr lang="zh-CN"/>
              <a:t>单词块默认的是按字母顺序排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2871636" y="2069033"/>
            <a:ext cx="9188450" cy="15176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/>
            <a:r>
              <a:rPr lang="zh-CN"/>
              <a:t>数据处理</a:t>
            </a:r>
            <a:r>
              <a:rPr lang="en-US"/>
              <a:t>:</a:t>
            </a:r>
            <a:endParaRPr/>
          </a:p>
          <a:p>
            <a:pPr/>
            <a:r>
              <a:rPr lang="en-US"/>
              <a:t>book</a:t>
            </a:r>
            <a:r>
              <a:rPr lang="zh-CN"/>
              <a:t>维持两个数组</a:t>
            </a:r>
            <a:r>
              <a:rPr lang="en-US"/>
              <a:t>,</a:t>
            </a:r>
            <a:r>
              <a:rPr lang="zh-CN"/>
              <a:t>一个按添加时间排</a:t>
            </a:r>
            <a:r>
              <a:rPr lang="en-US"/>
              <a:t>,</a:t>
            </a:r>
            <a:r>
              <a:rPr lang="zh-CN"/>
              <a:t>一个</a:t>
            </a:r>
            <a:r>
              <a:rPr lang="en-US"/>
              <a:t>book</a:t>
            </a:r>
            <a:r>
              <a:rPr lang="zh-CN"/>
              <a:t>的单词数量上限定为</a:t>
            </a:r>
            <a:r>
              <a:rPr lang="en-US"/>
              <a:t>2000</a:t>
            </a:r>
            <a:r>
              <a:rPr lang="zh-CN"/>
              <a:t>个</a:t>
            </a:r>
            <a:r>
              <a:rPr lang="en-US"/>
              <a:t>.</a:t>
            </a:r>
            <a:r>
              <a:rPr lang="zh-CN"/>
              <a:t>排序模式在点击左上角的功能按钮里改</a:t>
            </a:r>
            <a:endParaRPr/>
          </a:p>
          <a:p>
            <a:pPr/>
            <a:r>
              <a:rPr lang="zh-CN"/>
              <a:t>左上角按钮点开后的其他功能暂时不写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84816" y="311655"/>
            <a:ext cx="2700642" cy="5537289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 txBox="1"/>
          <p:nvPr/>
        </p:nvSpPr>
        <p:spPr>
          <a:xfrm rot="0" flipH="0" flipV="0">
            <a:off x="254448" y="89809"/>
            <a:ext cx="3790950" cy="758190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l"/>
            <a:r>
              <a:rPr lang="zh-CN" sz="1400"/>
              <a:t>数据格式</a:t>
            </a:r>
            <a:r>
              <a:rPr lang="en-US" sz="1400"/>
              <a:t>:</a:t>
            </a:r>
            <a:endParaRPr/>
          </a:p>
          <a:p>
            <a:pPr algn="l"/>
            <a:r>
              <a:rPr lang="zh-CN" sz="1400"/>
              <a:t>全局需要一个总单词</a:t>
            </a:r>
            <a:r>
              <a:rPr lang="en-US" sz="1400"/>
              <a:t>json:wordJson</a:t>
            </a:r>
            <a:endParaRPr/>
          </a:p>
          <a:p>
            <a:pPr algn="l"/>
            <a:r>
              <a:rPr lang="en-US" sz="1400"/>
              <a:t>{</a:t>
            </a:r>
            <a:endParaRPr/>
          </a:p>
          <a:p>
            <a:pPr lvl="0" algn="l"/>
            <a:r>
              <a:rPr lang="en-US" sz="1400"/>
              <a:t>  go:{</a:t>
            </a:r>
            <a:r>
              <a:rPr lang="en-US" sz="1400"/>
              <a:t>}</a:t>
            </a:r>
            <a:r>
              <a:rPr lang="en-US" sz="1400"/>
              <a:t>,</a:t>
            </a:r>
            <a:endParaRPr/>
          </a:p>
          <a:p>
            <a:pPr lvl="0" algn="l"/>
            <a:r>
              <a:rPr lang="en-US" sz="1400"/>
              <a:t>  advance:{</a:t>
            </a:r>
            <a:r>
              <a:rPr lang="en-US" sz="1400"/>
              <a:t>},</a:t>
            </a:r>
            <a:endParaRPr/>
          </a:p>
          <a:p>
            <a:pPr lvl="0" algn="l"/>
            <a:r>
              <a:rPr lang="en-US" sz="1400"/>
              <a:t>}</a:t>
            </a:r>
            <a:endParaRPr/>
          </a:p>
          <a:p>
            <a:pPr algn="l"/>
            <a:r>
              <a:rPr lang="zh-CN" sz="1400"/>
              <a:t>单词的基础</a:t>
            </a:r>
            <a:r>
              <a:rPr lang="en-US" sz="1400"/>
              <a:t>data,</a:t>
            </a:r>
            <a:r>
              <a:rPr lang="zh-CN" sz="1400"/>
              <a:t>比如音标</a:t>
            </a:r>
            <a:r>
              <a:rPr lang="en-US" sz="1400"/>
              <a:t>,</a:t>
            </a:r>
            <a:r>
              <a:rPr lang="zh-CN" sz="1400"/>
              <a:t>词性</a:t>
            </a:r>
            <a:r>
              <a:rPr lang="en-US" sz="1400"/>
              <a:t>,</a:t>
            </a:r>
            <a:r>
              <a:rPr lang="zh-CN" sz="1400"/>
              <a:t>解释等</a:t>
            </a:r>
            <a:r>
              <a:rPr lang="en-US" sz="1400"/>
              <a:t>,</a:t>
            </a:r>
            <a:r>
              <a:rPr lang="zh-CN" sz="1400"/>
              <a:t>覆盖的就是查词和界面标注所需要的信息</a:t>
            </a:r>
            <a:r>
              <a:rPr lang="en-US" sz="1400"/>
              <a:t>.</a:t>
            </a:r>
            <a:r>
              <a:rPr lang="zh-CN" sz="1400"/>
              <a:t>从服务器取得</a:t>
            </a:r>
            <a:r>
              <a:rPr lang="en-US" sz="1400"/>
              <a:t> </a:t>
            </a:r>
            <a:r>
              <a:rPr lang="zh-CN" sz="1400"/>
              <a:t>按需加载</a:t>
            </a:r>
            <a:endParaRPr/>
          </a:p>
          <a:p>
            <a:pPr algn="l"/>
            <a:endParaRPr lang="en-US" sz="1400"/>
          </a:p>
          <a:p>
            <a:pPr algn="l"/>
            <a:r>
              <a:rPr lang="zh-CN" sz="1400"/>
              <a:t>还需要一个用户的</a:t>
            </a:r>
            <a:r>
              <a:rPr lang="en-US" sz="1400"/>
              <a:t>json:wordJsonU</a:t>
            </a:r>
            <a:endParaRPr/>
          </a:p>
          <a:p>
            <a:pPr algn="l"/>
            <a:r>
              <a:rPr lang="en-US" sz="1400"/>
              <a:t>{</a:t>
            </a:r>
            <a:endParaRPr/>
          </a:p>
          <a:p>
            <a:pPr algn="l"/>
            <a:r>
              <a:rPr lang="en-US" sz="1400"/>
              <a:t>  go:{</a:t>
            </a:r>
            <a:endParaRPr/>
          </a:p>
          <a:p>
            <a:pPr algn="l"/>
            <a:r>
              <a:rPr lang="en-US" sz="1400"/>
              <a:t>    s:a/b/c/d</a:t>
            </a:r>
            <a:endParaRPr/>
          </a:p>
          <a:p>
            <a:pPr algn="l"/>
            <a:r>
              <a:rPr lang="en-US" sz="1400"/>
              <a:t>    a:0~7</a:t>
            </a:r>
            <a:endParaRPr/>
          </a:p>
          <a:p>
            <a:pPr algn="l"/>
            <a:r>
              <a:rPr lang="en-US" sz="1400"/>
              <a:t>    sc:searchCount</a:t>
            </a:r>
            <a:r>
              <a:rPr lang="zh-CN" sz="1400"/>
              <a:t>既查询过的次数</a:t>
            </a:r>
            <a:endParaRPr/>
          </a:p>
          <a:p>
            <a:pPr algn="l"/>
            <a:r>
              <a:rPr lang="en-US" sz="1400"/>
              <a:t>    t:</a:t>
            </a:r>
            <a:r>
              <a:rPr lang="zh-CN" sz="1400"/>
              <a:t>时间戳</a:t>
            </a:r>
            <a:endParaRPr/>
          </a:p>
          <a:p>
            <a:pPr algn="l"/>
            <a:r>
              <a:rPr lang="en-US" sz="1400"/>
              <a:t>    l:[</a:t>
            </a:r>
            <a:r>
              <a:rPr lang="zh-CN" sz="1400"/>
              <a:t>单词本</a:t>
            </a:r>
            <a:r>
              <a:rPr lang="en-US" sz="1400"/>
              <a:t>id]</a:t>
            </a:r>
            <a:endParaRPr/>
          </a:p>
          <a:p>
            <a:pPr algn="l"/>
            <a:r>
              <a:rPr lang="en-US" sz="1400"/>
              <a:t>  },</a:t>
            </a:r>
            <a:endParaRPr/>
          </a:p>
          <a:p>
            <a:pPr algn="l"/>
            <a:r>
              <a:rPr lang="en-US" sz="1400"/>
              <a:t>  advance:{</a:t>
            </a:r>
            <a:r>
              <a:rPr lang="en-US" sz="1400"/>
              <a:t>},</a:t>
            </a:r>
            <a:endParaRPr/>
          </a:p>
          <a:p>
            <a:pPr algn="l"/>
            <a:r>
              <a:rPr lang="en-US" sz="1400"/>
              <a:t>}</a:t>
            </a:r>
            <a:endParaRPr/>
          </a:p>
          <a:p>
            <a:pPr algn="l"/>
            <a:r>
              <a:rPr lang="en-US" sz="1400"/>
              <a:t>s</a:t>
            </a:r>
            <a:r>
              <a:rPr lang="zh-CN" sz="1400"/>
              <a:t>表示单词状态</a:t>
            </a:r>
            <a:r>
              <a:rPr lang="en-US" sz="1400"/>
              <a:t>,</a:t>
            </a:r>
            <a:r>
              <a:rPr lang="zh-CN" sz="1400"/>
              <a:t>包含</a:t>
            </a:r>
            <a:r>
              <a:rPr lang="en-US" sz="1400"/>
              <a:t>:</a:t>
            </a:r>
            <a:r>
              <a:rPr lang="en-US" sz="1400"/>
              <a:t>a:</a:t>
            </a:r>
            <a:r>
              <a:rPr lang="zh-CN" sz="1400"/>
              <a:t>正常背诵流程</a:t>
            </a:r>
            <a:r>
              <a:rPr lang="en-US" sz="1400"/>
              <a:t>,</a:t>
            </a:r>
            <a:r>
              <a:rPr lang="en-US" sz="1400"/>
              <a:t>b:ban(</a:t>
            </a:r>
            <a:r>
              <a:rPr lang="zh-CN" sz="1400"/>
              <a:t>表示忽略</a:t>
            </a:r>
            <a:r>
              <a:rPr lang="en-US" sz="1400"/>
              <a:t>,</a:t>
            </a:r>
            <a:r>
              <a:rPr lang="zh-CN" sz="1400"/>
              <a:t>不进行学习和背诵</a:t>
            </a:r>
            <a:r>
              <a:rPr lang="en-US" sz="1400"/>
              <a:t>),c:cut(</a:t>
            </a:r>
            <a:r>
              <a:rPr lang="zh-CN" sz="1400"/>
              <a:t>表示斩掉</a:t>
            </a:r>
            <a:r>
              <a:rPr lang="en-US" sz="1400"/>
              <a:t>,</a:t>
            </a:r>
            <a:r>
              <a:rPr lang="zh-CN" sz="1400"/>
              <a:t>掌握了的意思</a:t>
            </a:r>
            <a:r>
              <a:rPr lang="en-US" sz="1400"/>
              <a:t>),d:ed</a:t>
            </a:r>
            <a:r>
              <a:rPr lang="zh-CN" sz="1400"/>
              <a:t>表示</a:t>
            </a:r>
            <a:r>
              <a:rPr lang="zh-CN" sz="1400"/>
              <a:t>已背会</a:t>
            </a:r>
            <a:endParaRPr/>
          </a:p>
          <a:p>
            <a:pPr algn="l"/>
            <a:r>
              <a:rPr lang="en-US" sz="1400"/>
              <a:t>a</a:t>
            </a:r>
            <a:r>
              <a:rPr lang="zh-CN" sz="1400"/>
              <a:t>用数字</a:t>
            </a:r>
            <a:r>
              <a:rPr lang="en-US" sz="1400"/>
              <a:t>0~7</a:t>
            </a:r>
            <a:r>
              <a:rPr lang="zh-CN" sz="1400"/>
              <a:t>表示加入生词本后的艾宾浩斯流程</a:t>
            </a:r>
            <a:r>
              <a:rPr lang="en-US" sz="1400"/>
              <a:t>,</a:t>
            </a:r>
            <a:r>
              <a:rPr lang="zh-CN" sz="1400"/>
              <a:t>分别对应</a:t>
            </a:r>
            <a:r>
              <a:rPr lang="en-US" sz="1400"/>
              <a:t>:</a:t>
            </a:r>
            <a:r>
              <a:rPr lang="zh-CN" sz="1400"/>
              <a:t>刚添加</a:t>
            </a:r>
            <a:r>
              <a:rPr lang="zh-CN" sz="1400"/>
              <a:t>、</a:t>
            </a:r>
            <a:r>
              <a:rPr lang="en-US" sz="1400"/>
              <a:t>20</a:t>
            </a:r>
            <a:r>
              <a:rPr lang="zh-CN" sz="1400"/>
              <a:t>分钟后、</a:t>
            </a:r>
            <a:r>
              <a:rPr lang="en-US" sz="1400"/>
              <a:t>1</a:t>
            </a:r>
            <a:r>
              <a:rPr lang="zh-CN" sz="1400"/>
              <a:t>小时、</a:t>
            </a:r>
            <a:r>
              <a:rPr lang="en-US" sz="1400"/>
              <a:t>9</a:t>
            </a:r>
            <a:r>
              <a:rPr lang="zh-CN" sz="1400"/>
              <a:t>小时、</a:t>
            </a:r>
            <a:r>
              <a:rPr lang="en-US" sz="1400"/>
              <a:t>1</a:t>
            </a:r>
            <a:r>
              <a:rPr lang="zh-CN" sz="1400"/>
              <a:t>天、</a:t>
            </a:r>
            <a:r>
              <a:rPr lang="en-US" sz="1400"/>
              <a:t>2</a:t>
            </a:r>
            <a:r>
              <a:rPr lang="zh-CN" sz="1400"/>
              <a:t>天、</a:t>
            </a:r>
            <a:r>
              <a:rPr lang="en-US" sz="1400"/>
              <a:t>6</a:t>
            </a:r>
            <a:r>
              <a:rPr lang="zh-CN" sz="1400"/>
              <a:t>天、</a:t>
            </a:r>
            <a:r>
              <a:rPr lang="en-US" sz="1400"/>
              <a:t>31</a:t>
            </a:r>
            <a:r>
              <a:rPr lang="zh-CN" sz="1400"/>
              <a:t>天</a:t>
            </a:r>
            <a:endParaRPr/>
          </a:p>
        </p:txBody>
      </p:sp>
      <p:sp>
        <p:nvSpPr>
          <p:cNvPr id="28" name=""/>
          <p:cNvSpPr txBox="1"/>
          <p:nvPr/>
        </p:nvSpPr>
        <p:spPr>
          <a:xfrm rot="0" flipH="0" flipV="0">
            <a:off x="4041127" y="89809"/>
            <a:ext cx="3409950" cy="175895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en-US" sz="1400"/>
              <a:t>t(</a:t>
            </a:r>
            <a:r>
              <a:rPr lang="zh-CN" sz="1400"/>
              <a:t>这个最复杂</a:t>
            </a:r>
            <a:r>
              <a:rPr lang="en-US" sz="1400"/>
              <a:t>)</a:t>
            </a:r>
            <a:r>
              <a:rPr lang="zh-CN" sz="1400"/>
              <a:t>表示时间戳</a:t>
            </a:r>
            <a:r>
              <a:rPr lang="en-US" sz="1400"/>
              <a:t>:</a:t>
            </a:r>
            <a:r>
              <a:rPr lang="zh-CN" sz="1400"/>
              <a:t>如果</a:t>
            </a:r>
            <a:r>
              <a:rPr lang="en-US" sz="1400"/>
              <a:t>s</a:t>
            </a:r>
            <a:r>
              <a:rPr lang="zh-CN" sz="1400"/>
              <a:t>是</a:t>
            </a:r>
            <a:r>
              <a:rPr lang="en-US" sz="1400"/>
              <a:t>b/c,</a:t>
            </a:r>
            <a:r>
              <a:rPr lang="zh-CN" sz="1400"/>
              <a:t>记录的是变更的时间</a:t>
            </a:r>
            <a:r>
              <a:rPr lang="en-US" sz="1400"/>
              <a:t>,</a:t>
            </a:r>
            <a:r>
              <a:rPr lang="zh-CN" sz="1400"/>
              <a:t>如果是</a:t>
            </a:r>
            <a:r>
              <a:rPr lang="en-US" sz="1400"/>
              <a:t>a,</a:t>
            </a:r>
            <a:r>
              <a:rPr lang="zh-CN" sz="1400"/>
              <a:t>则要根据参数</a:t>
            </a:r>
            <a:r>
              <a:rPr lang="en-US" sz="1400"/>
              <a:t>a</a:t>
            </a:r>
            <a:r>
              <a:rPr lang="zh-CN" sz="1400"/>
              <a:t>的数字</a:t>
            </a:r>
            <a:r>
              <a:rPr lang="en-US" sz="1400"/>
              <a:t>,</a:t>
            </a:r>
            <a:r>
              <a:rPr lang="zh-CN" sz="1400"/>
              <a:t>在当前时间戳的基础上加上对应的延迟时间</a:t>
            </a:r>
            <a:r>
              <a:rPr lang="en-US" sz="1400"/>
              <a:t>.</a:t>
            </a:r>
            <a:r>
              <a:rPr lang="zh-CN" sz="1400"/>
              <a:t>这个时间就是下次要背的时间</a:t>
            </a:r>
            <a:r>
              <a:rPr lang="en-US" sz="1400"/>
              <a:t>.</a:t>
            </a:r>
            <a:endParaRPr/>
          </a:p>
          <a:p>
            <a:pPr/>
            <a:r>
              <a:rPr lang="zh-CN" sz="1400"/>
              <a:t>并且同步对生词本数组里的数据进行更新</a:t>
            </a:r>
            <a:r>
              <a:rPr lang="en-US" sz="1400"/>
              <a:t>.</a:t>
            </a:r>
            <a:endParaRPr/>
          </a:p>
        </p:txBody>
      </p:sp>
      <p:sp>
        <p:nvSpPr>
          <p:cNvPr id="29" name=""/>
          <p:cNvSpPr txBox="1"/>
          <p:nvPr/>
        </p:nvSpPr>
        <p:spPr>
          <a:xfrm rot="0" flipH="0" flipV="0">
            <a:off x="8146602" y="89809"/>
            <a:ext cx="3244850" cy="12001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 sz="1400"/>
              <a:t>searchList:</a:t>
            </a:r>
            <a:r>
              <a:rPr lang="zh-CN" sz="1400"/>
              <a:t>查询历史表</a:t>
            </a:r>
            <a:endParaRPr/>
          </a:p>
          <a:p>
            <a:pPr/>
            <a:r>
              <a:rPr lang="en-US" sz="1400"/>
              <a:t>[word0,word1](</a:t>
            </a:r>
            <a:r>
              <a:rPr lang="zh-CN" sz="1400"/>
              <a:t>按时间从新到旧</a:t>
            </a:r>
            <a:r>
              <a:rPr lang="en-US" sz="1400"/>
              <a:t>,</a:t>
            </a:r>
            <a:r>
              <a:rPr lang="zh-CN" sz="1400"/>
              <a:t>并去重</a:t>
            </a:r>
            <a:r>
              <a:rPr lang="en-US" sz="1400"/>
              <a:t>)</a:t>
            </a:r>
            <a:endParaRPr/>
          </a:p>
          <a:p>
            <a:pPr/>
            <a:r>
              <a:rPr lang="en-US" sz="1400"/>
              <a:t>studyList:</a:t>
            </a:r>
            <a:r>
              <a:rPr lang="zh-CN" sz="1400"/>
              <a:t>单词块</a:t>
            </a:r>
            <a:endParaRPr/>
          </a:p>
          <a:p>
            <a:pPr/>
            <a:r>
              <a:rPr lang="en-US" sz="1400"/>
              <a:t>[word0,word1]</a:t>
            </a:r>
            <a:r>
              <a:rPr lang="en-US" sz="1400"/>
              <a:t>(</a:t>
            </a:r>
            <a:r>
              <a:rPr lang="zh-CN" sz="1400"/>
              <a:t>按时间从新到旧</a:t>
            </a:r>
            <a:r>
              <a:rPr lang="en-US" sz="1400"/>
              <a:t>,</a:t>
            </a:r>
            <a:r>
              <a:rPr lang="zh-CN" sz="1400"/>
              <a:t>并去重</a:t>
            </a:r>
            <a:r>
              <a:rPr lang="en-US" sz="1400"/>
              <a:t>)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2026-07-01T09:30:48Z</dcterms:created>
  <dcterms:modified xsi:type="dcterms:W3CDTF">2026-07-01T09:30:48Z</dcterms:modified>
</cp:coreProperties>
</file>